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23b52f3334bfb" /><Relationship Type="http://schemas.openxmlformats.org/officeDocument/2006/relationships/extended-properties" Target="/docProps/app.xml" Id="R18f50d0513e34e29" /><Relationship Type="http://schemas.openxmlformats.org/officeDocument/2006/relationships/officeDocument" Target="/ppt/presentation.xml" Id="Rdbb33ae861bd46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519b7f3894bf0"/>
  </p:sldMasterIdLst>
  <p:notesMasterIdLst>
    <p:notesMasterId xmlns:r="http://schemas.openxmlformats.org/officeDocument/2006/relationships" r:id="R103331455f4045bf"/>
  </p:notesMasterIdLst>
  <p:sldIdLst>
    <p:sldId xmlns:r="http://schemas.openxmlformats.org/officeDocument/2006/relationships" id="256" r:id="R3464d9c24ddb4b1e"/>
    <p:sldId xmlns:r="http://schemas.openxmlformats.org/officeDocument/2006/relationships" id="257" r:id="Rfcd297fe27ed429c"/>
    <p:sldId xmlns:r="http://schemas.openxmlformats.org/officeDocument/2006/relationships" id="258" r:id="R5c993e6573bb4a24"/>
    <p:sldId xmlns:r="http://schemas.openxmlformats.org/officeDocument/2006/relationships" id="259" r:id="Reecef42498574f15"/>
    <p:sldId xmlns:r="http://schemas.openxmlformats.org/officeDocument/2006/relationships" id="260" r:id="R65709dd347154e72"/>
    <p:sldId xmlns:r="http://schemas.openxmlformats.org/officeDocument/2006/relationships" id="261" r:id="Rf988c826a9e241c0"/>
    <p:sldId xmlns:r="http://schemas.openxmlformats.org/officeDocument/2006/relationships" id="262" r:id="R48e35ee0e4684552"/>
    <p:sldId xmlns:r="http://schemas.openxmlformats.org/officeDocument/2006/relationships" id="263" r:id="Rae6c7b09e6cd4e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8b42eac66c47d7" /><Relationship Type="http://schemas.openxmlformats.org/officeDocument/2006/relationships/slideMaster" Target="/ppt/slideMasters/slideMaster1.xml" Id="R791519b7f3894bf0" /><Relationship Type="http://schemas.openxmlformats.org/officeDocument/2006/relationships/notesMaster" Target="/ppt/notesMasters/notesMaster1.xml" Id="R103331455f4045bf" /><Relationship Type="http://schemas.openxmlformats.org/officeDocument/2006/relationships/presProps" Target="/ppt/presProps.xml" Id="R0a0cf8bbb29e4379" /><Relationship Type="http://schemas.openxmlformats.org/officeDocument/2006/relationships/tableStyles" Target="/ppt/tableStyles.xml" Id="Rf653304f518b41f3" /><Relationship Type="http://schemas.openxmlformats.org/officeDocument/2006/relationships/slide" Target="/ppt/slides/slide1.xml" Id="R3464d9c24ddb4b1e" /><Relationship Type="http://schemas.openxmlformats.org/officeDocument/2006/relationships/slide" Target="/ppt/slides/slide2.xml" Id="Rfcd297fe27ed429c" /><Relationship Type="http://schemas.openxmlformats.org/officeDocument/2006/relationships/slide" Target="/ppt/slides/slide3.xml" Id="R5c993e6573bb4a24" /><Relationship Type="http://schemas.openxmlformats.org/officeDocument/2006/relationships/slide" Target="/ppt/slides/slide4.xml" Id="Reecef42498574f15" /><Relationship Type="http://schemas.openxmlformats.org/officeDocument/2006/relationships/slide" Target="/ppt/slides/slide5.xml" Id="R65709dd347154e72" /><Relationship Type="http://schemas.openxmlformats.org/officeDocument/2006/relationships/slide" Target="/ppt/slides/slide6.xml" Id="Rf988c826a9e241c0" /><Relationship Type="http://schemas.openxmlformats.org/officeDocument/2006/relationships/slide" Target="/ppt/slides/slide7.xml" Id="R48e35ee0e4684552" /><Relationship Type="http://schemas.openxmlformats.org/officeDocument/2006/relationships/slide" Target="/ppt/slides/slide8.xml" Id="Rae6c7b09e6cd4e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df5fb2b5d445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b7fefc157d46d8" /><Relationship Type="http://schemas.openxmlformats.org/officeDocument/2006/relationships/notesMaster" Target="/ppt/notesMasters/notesMaster1.xml" Id="Rf5b6f6375b44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7d6e94c56f4099" /><Relationship Type="http://schemas.openxmlformats.org/officeDocument/2006/relationships/notesMaster" Target="/ppt/notesMasters/notesMaster1.xml" Id="R89cd166de44045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c6f52443854f2c" /><Relationship Type="http://schemas.openxmlformats.org/officeDocument/2006/relationships/notesMaster" Target="/ppt/notesMasters/notesMaster1.xml" Id="Rb99fcc1b69e8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214c55d7c148e7" /><Relationship Type="http://schemas.openxmlformats.org/officeDocument/2006/relationships/notesMaster" Target="/ppt/notesMasters/notesMaster1.xml" Id="R93ccc0fd9b7b47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6b273e38ac4368" /><Relationship Type="http://schemas.openxmlformats.org/officeDocument/2006/relationships/notesMaster" Target="/ppt/notesMasters/notesMaster1.xml" Id="R462f0927e41f47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b231167e274647" /><Relationship Type="http://schemas.openxmlformats.org/officeDocument/2006/relationships/notesMaster" Target="/ppt/notesMasters/notesMaster1.xml" Id="Re7bcca32500c41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77a64a6de44fbf" /><Relationship Type="http://schemas.openxmlformats.org/officeDocument/2006/relationships/notesMaster" Target="/ppt/notesMasters/notesMaster1.xml" Id="R97c3413b9d0b4a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47513c05854676" /><Relationship Type="http://schemas.openxmlformats.org/officeDocument/2006/relationships/notesMaster" Target="/ppt/notesMasters/notesMaster1.xml" Id="R2bc21cba9463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docs/WAVE1_SUBMISSION.md. The wallet-backed lifecycle was completed on Midnight Undeployed.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“The problem.”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system view and public/private data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“Public and private data.”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docs/CONTRACT_SPEC.md, state machine and action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proof claims and docs/CONTRACT_SPEC.md, required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web test run, docs/WAVE1_SUBMISSION.md, and docs/DEPLOYMENT_RUNBOOK.md. The completed flow ran on the Midnight Undeployed project test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docs/DEMO_FIXTURE.md, docs/DEPLOYMENT_RUNBOOK.md, and docs/WAVE1_SUBMISSION.md.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33ab03c4f45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1acb93e1a04f25" /><Relationship Type="http://schemas.openxmlformats.org/officeDocument/2006/relationships/slideLayout" Target="/ppt/slideLayouts/slideLayout1.xml" Id="R12da7a1a280b49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da7a1a280b49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9f871ecb24207" /><Relationship Type="http://schemas.openxmlformats.org/officeDocument/2006/relationships/notesSlide" Target="/ppt/notesSlides/notesSlide1.xml" Id="Rd2429b003de649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f007e0d5149d5" /><Relationship Type="http://schemas.openxmlformats.org/officeDocument/2006/relationships/notesSlide" Target="/ppt/notesSlides/notesSlide2.xml" Id="Rf8cb3608cbbe4d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1aed01da94c47" /><Relationship Type="http://schemas.openxmlformats.org/officeDocument/2006/relationships/notesSlide" Target="/ppt/notesSlides/notesSlide3.xml" Id="R187a11e2e2d840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c9660a8904978" /><Relationship Type="http://schemas.openxmlformats.org/officeDocument/2006/relationships/notesSlide" Target="/ppt/notesSlides/notesSlide4.xml" Id="R9ad0cc48a02341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03617d10b418c" /><Relationship Type="http://schemas.openxmlformats.org/officeDocument/2006/relationships/notesSlide" Target="/ppt/notesSlides/notesSlide5.xml" Id="R0f1ed368b3c54a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f0219d55f4ae1" /><Relationship Type="http://schemas.openxmlformats.org/officeDocument/2006/relationships/notesSlide" Target="/ppt/notesSlides/notesSlide6.xml" Id="R0700ff02fd6341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c1869f8664566" /><Relationship Type="http://schemas.openxmlformats.org/officeDocument/2006/relationships/notesSlide" Target="/ppt/notesSlides/notesSlide7.xml" Id="Rc05b2520857145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6c19b1c2d46ad" /><Relationship Type="http://schemas.openxmlformats.org/officeDocument/2006/relationships/notesSlide" Target="/ppt/notesSlides/notesSlide8.xml" Id="Rc77d01ad0c2a4e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86660-1788-4302-BD8F-A2077A79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7150" cy="388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23BE3-45CC-4C15-9C6D-B7C577F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906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QuietPatch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5A9DE-6607-4690-9409-3953DE6C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Private vulnerability disclosure with encrypted evidence and a public Midnight workflow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CC14F-EB78-4B7B-9FFE-8B27C59E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1E1D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1E1D1"/>
                </a:solidFill>
                <a:latin typeface="Arial"/>
                <a:ea typeface="Arial"/>
                <a:cs typeface="Arial"/>
              </a:rPr>
              <a:t>Wave 1 submission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9350C-FA00-405B-A698-EE62447E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Synthetic reports only. The wallet-backed Midnight flow has reached safe disclosure.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2A788-CD39-461F-A690-3E294A40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768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57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Evidence stays encrypted until maintainer review. The public record tracks the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79A1D-A49D-4045-9315-65381EAB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102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127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89D81-8EAD-4ADB-B88C-54627B4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8F61E-F179-4B26-AA8A-892ADE1E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The disclosure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659D5-8C32-44CD-827C-FB8F4125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38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QuietPatch  /  Wave 1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CF23-7F71-4053-A687-8E9AA208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D124D-1387-4447-A4F9-35FCAD1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Private disclosure protocol built for Midnight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95A9B-0C26-4FC9-A7F5-EAA0EC2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Security reports create a timing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F0D6C-7944-45BE-9764-4D1F57D4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762500" cy="25527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11873-AAF7-4F00-9149-F1317BAB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9F9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9F90"/>
                </a:solidFill>
                <a:latin typeface="Arial"/>
                <a:ea typeface="Arial"/>
                <a:cs typeface="Arial"/>
              </a:rPr>
              <a:t>Public before a 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17B08-9ED3-4023-98F0-4ED9D005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Exploit details can reach users before maintainers have time to patch the issue.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25E2E-4682-49B7-AF5D-D789F8B3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43150"/>
            <a:ext cx="4762500" cy="25527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54DC2-0211-4363-837F-49FD6E01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71E1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1E1D1"/>
                </a:solidFill>
                <a:latin typeface="Arial"/>
                <a:ea typeface="Arial"/>
                <a:cs typeface="Arial"/>
              </a:rPr>
              <a:t>Private without a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38D38-78B8-4574-9B01-A60BB6B5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61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Maintainers can review quietly, but researchers and observers cannot verify the status, decision, or payout claim.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BC4B8-97FF-4676-90FA-D0865A8E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66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QuietPatch keeps the evidence private and makes the disclosure process verifiable.</a:t>
            </a:r>
          </a:p>
        </p:txBody>
      </p:sp>
    </p:spTree>
    <p:extLst>
      <p:ext uri="{BB962C8B-B14F-4D97-AF65-F5344CB8AC3E}">
        <p14:creationId xmlns:p14="http://schemas.microsoft.com/office/powerpoint/2010/main" val="92570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AE5E86-7656-46A0-800C-037152A4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0A262-6F38-455D-8C1B-671CA27D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One workflow, two visibility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F51C4-0ED3-488E-83A6-DD6B40F3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38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QuietPatch  /  Wave 1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6166E-2E18-4056-AF3B-188D8803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810C1-52AC-4340-B08A-59DEB7E1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Private disclosure protocol built for Midnight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E3589-751C-4F18-90C4-16910AE8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Private evidence moves through the browser. Midnight records the public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0BAC9-8602-4F89-BF73-348D7129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752600" cy="1695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C217F-6682-4D5A-9FE1-9EB226EC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F94DE-CDDF-429B-8ED2-545DEE9A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26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34EFC-BBF0-4EC0-A7E1-01814D32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Writes a synthetic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246E4-CCFF-4DE4-8575-57EB0810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9950"/>
            <a:ext cx="3619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8123A-4A2B-4955-AC2B-47444653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1752600" cy="1695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30F6D-F52B-480D-8F78-824E5CFF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EC96C-8968-47FB-9BD6-8F6F4D44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385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5BEB3-1530-4D73-8032-4E4D4CC0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052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Encrypts and commits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C8992-3E1F-4780-BECE-8EDE1585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3619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40BD9-01B2-4E83-85B5-8BBB415C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752600" cy="1695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1CA78-FA3D-4802-B226-3F9F8E64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99CBD-EF43-4822-BF78-43FFA48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385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Midnight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86A92-2389-4352-96EC-B3AA5EDE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052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Checks workflow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EECE6-86D0-4FE9-987C-6C1689F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3619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210C0-78BB-4CC4-BBB0-C1F91E8A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1752600" cy="1695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18A2E-34BD-43FA-989C-BB59C758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1F7A9-0649-4035-93B3-68FCA9A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Maintainer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567C8-890D-4F98-890B-615E1428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Decrypts and reviews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6644D-9494-4B84-9A3E-8A6A8DAE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9950"/>
            <a:ext cx="3619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239DC-AA05-4740-ABA9-F0EE9EA6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752600" cy="1695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DECC29-01BA-4E12-B7DC-F41A8625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5356E-D8B0-4FC6-A47F-1F2B0566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Observer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2C26E6-F293-4C58-9476-CF21655A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052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2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Sees status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6A77D7-2083-42DE-9E35-C31A1E85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1E1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1E1D1"/>
                </a:solidFill>
                <a:latin typeface="Arial"/>
                <a:ea typeface="Arial"/>
                <a:cs typeface="Arial"/>
              </a:rPr>
              <a:t>Encrypted bundle: report text, reproduction, nonce, encryption material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299829-4FF5-4EAB-A994-4A3F7EE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Public record: bounty settings, commitment, status, claim, disclosure digest</a:t>
            </a:r>
          </a:p>
        </p:txBody>
      </p:sp>
    </p:spTree>
    <p:extLst>
      <p:ext uri="{BB962C8B-B14F-4D97-AF65-F5344CB8AC3E}">
        <p14:creationId xmlns:p14="http://schemas.microsoft.com/office/powerpoint/2010/main" val="1072302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B47A0-6585-46BA-A10C-9FCFC210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A58EE-2CC0-40AA-BC06-6442AAE6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The privacy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06ECA-A097-43FD-878D-2EA7E6A6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38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QuietPatch  /  Wave 1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2D6ED-1347-4475-B1BF-5F44261B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591DA-5657-4929-B632-DD5E44B1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Private disclosure protocol built for Midnight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5FCF5-B311-488E-9474-58B9647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The contract stores the process. The report remains outside the public ledger.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FF364-5A41-4A29-A534-0E337CFB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914900" cy="3143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69459-3EC7-4DE6-9A56-B2376BB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Public on Midnight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F753B-AFCE-463A-B254-0B917E89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Bounty ID and threshold</a:t>
            </a:r>
          </a:p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Deadline and reward</a:t>
            </a:r>
          </a:p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Report commitment</a:t>
            </a:r>
          </a:p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Submission, acceptance, rejection, payout, disclosure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4AEBE-7D44-43AB-B115-CF1DB13F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533900" cy="3143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364E4-CB6A-4DC9-B55C-16C0F4C0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E1D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71E1D1"/>
                </a:solidFill>
                <a:latin typeface="Arial"/>
                <a:ea typeface="Arial"/>
                <a:cs typeface="Arial"/>
              </a:rPr>
              <a:t>Private outside the ledger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8F3A4-2CB2-4501-A5A6-50C04320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Report text and reproduction steps</a:t>
            </a:r>
          </a:p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Raw severity input and nonce</a:t>
            </a:r>
          </a:p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Ciphertext and encryption key</a:t>
            </a:r>
          </a:p>
          <a:p xmlns:a="http://schemas.openxmlformats.org/drawingml/2006/main">
            <a:pPr>
              <a:defRPr sz="180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Attachments and maintainer review details</a:t>
            </a:r>
          </a:p>
        </p:txBody>
      </p:sp>
    </p:spTree>
    <p:extLst>
      <p:ext uri="{BB962C8B-B14F-4D97-AF65-F5344CB8AC3E}">
        <p14:creationId xmlns:p14="http://schemas.microsoft.com/office/powerpoint/2010/main" val="1633477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B5E2C-18BC-44F2-81BC-2519DD9E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C4E6C-FC67-4C54-B995-2CDB021F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Contract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D5826-4971-40A7-A527-05237457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38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QuietPatch  /  Wave 1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8930F-32E5-4895-9AEA-5DDA248D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12B4C-3CAE-43B8-A097-DBD45931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Private disclosure protocol built for Midnight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F42C0-4059-49E1-9674-0A75A59E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The Compact contract keeps the allowed transitions narrow.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D5FFF-7D3F-4AFB-9762-2717C0F0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6764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E8C1C-4EB2-4059-840B-FFBEBE7F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0BC70-EECF-4831-B557-0BD057A0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02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Bounty 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E14BF-5B38-49A8-B72F-5A3A8ED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33750"/>
            <a:ext cx="400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FC0BA-25DC-40D2-9D4C-5CB8EDFE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05100"/>
            <a:ext cx="16764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DE41B-F2CC-4288-8CA8-A254488B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F777A-5D43-4DC5-8307-8D02BB56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46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Report submitted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98E8C-DEDB-4FB7-B97C-FD6BA70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400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F5D6A-D172-4B47-AAA4-C87CEBAB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05100"/>
            <a:ext cx="16764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D251B-7980-4807-A31B-7B8B612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33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5AD0F-DC5F-4749-A570-ADC26219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718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696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Maintainer accepts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8DE2E-2C62-4A23-9918-309FE985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400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50D59-E837-4BBB-AFF0-3CBEE7B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05100"/>
            <a:ext cx="16764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2FF48-AA48-458D-AFF3-7DED12E1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33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7E40D-63FF-4277-8E18-919B929F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02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Researcher claims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FF503-B16F-4772-86EF-4C5141E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400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7CA74-ED18-4EF2-8507-FF28324D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05100"/>
            <a:ext cx="16764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59619-3B91-4703-86FE-3C5F0C58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A6FC3-6402-4F92-B4FA-443FA456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03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Safe disclosure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BBFCE-11AD-424D-976E-90374B01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375285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9B696-8504-4995-A6FB-4B9908DC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910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281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9F9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9F90"/>
                </a:solidFill>
                <a:latin typeface="Arial"/>
                <a:ea typeface="Arial"/>
                <a:cs typeface="Arial"/>
              </a:rPr>
              <a:t>Alternative branch: maintainer rejects. No payout claim becomes available.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9D315-4252-4B2F-A75E-63F9A1E8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The current Wave 1 contract supports one report per bounty and records a claim without transferring real funds.</a:t>
            </a:r>
          </a:p>
        </p:txBody>
      </p:sp>
    </p:spTree>
    <p:extLst>
      <p:ext uri="{BB962C8B-B14F-4D97-AF65-F5344CB8AC3E}">
        <p14:creationId xmlns:p14="http://schemas.microsoft.com/office/powerpoint/2010/main" val="118812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FC7E2-B68E-4DD5-A28E-8B1598FA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52182-1098-4711-80D6-A0F0D618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What the contract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D4AA-C73E-45F8-8196-A3C253D4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38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QuietPatch  /  Wave 1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88125-675B-49AD-9A0A-679C74D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6A54B-C278-4642-99A5-5AFA3DD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Private disclosure protocol built for Midnight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4303C-6543-455E-A49D-BF89EE66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9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The proof enforces process conditions. Maintainer review still decides whether a report is valid.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6192C-F9B4-4342-AE15-0C10BBE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400800" cy="2914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729A6-1C7F-4F7E-9A96-B2E75C2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Bound in the Compact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3AE00-C72F-45C5-AEC0-D574925F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Report digest, nonce, and bounty bind to the commitment</a:t>
            </a:r>
          </a:p>
          <a:p xmlns:a="http://schemas.openxmlformats.org/drawingml/2006/main">
            <a:pPr>
              <a:defRPr sz="16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Private severity meets the public threshold</a:t>
            </a:r>
          </a:p>
          <a:p xmlns:a="http://schemas.openxmlformats.org/drawingml/2006/main">
            <a:pPr>
              <a:defRPr sz="16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Submission must precede the deadline</a:t>
            </a:r>
          </a:p>
          <a:p xmlns:a="http://schemas.openxmlformats.org/drawingml/2006/main">
            <a:pPr>
              <a:defRPr sz="16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Maintainer and researcher use separate witnesses</a:t>
            </a:r>
          </a:p>
          <a:p xmlns:a="http://schemas.openxmlformats.org/drawingml/2006/main">
            <a:pPr>
              <a:defRPr sz="16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An accepted claim cannot be completed twice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682A6-1C0E-4DB0-A085-1071942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3276600" cy="2914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2D1D5-BD95-4FF4-82CD-8EE92DC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71E1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1E1D1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F9D8A-1F58-40B9-A21C-6B218CE6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38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The contract cannot prove that an external vulnerability is real. The maintainer decrypts the synthetic evidence and makes that decision.</a:t>
            </a:r>
          </a:p>
        </p:txBody>
      </p:sp>
    </p:spTree>
    <p:extLst>
      <p:ext uri="{BB962C8B-B14F-4D97-AF65-F5344CB8AC3E}">
        <p14:creationId xmlns:p14="http://schemas.microsoft.com/office/powerpoint/2010/main" val="1669510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97237-A390-4A5F-8EB6-349652F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D007A-39DD-4F21-88E3-6D3FEEB2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Build evidence and demo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345AB-1719-4E30-958B-E0C3CC6A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38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QuietPatch  /  Wave 1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0B97A-3056-45A8-B7D6-0D825856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72FD0-1B07-4C05-8966-94FE90A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Private disclosure protocol built for Midnight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71B8E-8F41-40B9-A39C-388854FD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The wallet-backed lifecycle is complete. The final report state is publicly disclosed.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C5717-2684-48A5-9081-2FB20A53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C9C9E-20AC-42C3-B06A-FC524F0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860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automated test cases pass across web, API, and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072B3-2DB4-4988-920B-DFA1164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9535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7463E-AC95-4659-9F01-1F2C26A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AABB3-E7AD-4723-B728-8EBB734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718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Compact contract deployed through Lace on Midnight Undeployed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CD65B-9F52-41B6-951E-7B15B036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89535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4E29B-7945-4921-AA14-608D13E1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84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784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CDE24-8894-4690-8A4D-33F9AB75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576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live steps complete: deploy, initialize, submit, accept, claim, disclose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067B0-C74B-4CC3-A6E8-9ADF44C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89535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98821-C8FA-49BB-9652-14435471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1E1D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71E1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37558-D73C-4258-B626-8A33590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434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silent local fallbacks when Lace connects without a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00B3B-7583-4B59-B27C-E6000E45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89535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6F7E5-810D-4AB8-9F5B-10F70854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075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F9F9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9F90"/>
                </a:solidFill>
                <a:latin typeface="Arial"/>
                <a:ea typeface="Arial"/>
                <a:cs typeface="Arial"/>
              </a:rPr>
              <a:t>Live evidence: contract 2542183b…c75863a6 reached DISCLOSED. The test payout records a claim; it does not transfer tNIGHT.</a:t>
            </a:r>
          </a:p>
        </p:txBody>
      </p:sp>
    </p:spTree>
    <p:extLst>
      <p:ext uri="{BB962C8B-B14F-4D97-AF65-F5344CB8AC3E}">
        <p14:creationId xmlns:p14="http://schemas.microsoft.com/office/powerpoint/2010/main" val="748824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82B2C-A8B6-4796-AFA3-6818A0AD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1435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01173-81E3-440F-921A-849CB06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What judges can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F2A0D-CD3E-4A5D-B47B-B39330D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38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QuietPatch  /  Wave 1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A119B-F630-4377-96FE-A0EEBDA2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30C27-183C-42C3-92A9-54D134AD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Private disclosure protocol built for Midnight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62E78-B62F-49A7-BC35-7AF1BCB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73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QuietPatch makes one promise: the public can follow the process without seeing the exploit before a 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52040-EEE9-4E85-9A17-4480E8C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B7B0C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7B0C5"/>
                </a:solidFill>
                <a:latin typeface="Arial"/>
                <a:ea typeface="Arial"/>
                <a:cs typeface="Arial"/>
              </a:rPr>
              <a:t>During the demo, judges can verify: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35BF7-4132-46F2-BA47-48A1948F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7239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A report encrypts in the browser before upload</a:t>
            </a:r>
          </a:p>
          <a:p xmlns:a="http://schemas.openxmlformats.org/drawingml/2006/main">
            <a:pPr>
              <a:defRPr sz="19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The observer sees a commitment and workflow status</a:t>
            </a:r>
          </a:p>
          <a:p xmlns:a="http://schemas.openxmlformats.org/drawingml/2006/main">
            <a:pPr>
              <a:defRPr sz="19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The maintainer decrypts the synthetic evidence locally</a:t>
            </a:r>
          </a:p>
          <a:p xmlns:a="http://schemas.openxmlformats.org/drawingml/2006/main">
            <a:pPr>
              <a:defRPr sz="19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The Compact contract limits the valid state transitions</a:t>
            </a:r>
          </a:p>
          <a:p xmlns:a="http://schemas.openxmlformats.org/drawingml/2006/main">
            <a:pPr>
              <a:defRPr sz="1950" b="0" i="0">
                <a:solidFill>
                  <a:srgbClr val="F5F2FB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5F2FB"/>
                </a:solidFill>
                <a:latin typeface="Arial"/>
                <a:ea typeface="Arial"/>
                <a:cs typeface="Arial"/>
              </a:rPr>
              <a:t>The repository builds and tests from documented commands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E296A-221B-4A31-AAB5-79E2C72C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1E1D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1E1D1"/>
                </a:solidFill>
                <a:latin typeface="Arial"/>
                <a:ea typeface="Arial"/>
                <a:cs typeface="Arial"/>
              </a:rPr>
              <a:t>The completed demo, runbook, fixture, and submission copy are ready for a public repository and recorded walkthrough.</a:t>
            </a:r>
          </a:p>
        </p:txBody>
      </p:sp>
    </p:spTree>
    <p:extLst>
      <p:ext uri="{BB962C8B-B14F-4D97-AF65-F5344CB8AC3E}">
        <p14:creationId xmlns:p14="http://schemas.microsoft.com/office/powerpoint/2010/main" val="261133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2026-09-13T18:32:36.0020000Z</dcterms:created>
  <dcterms:modified xsi:type="dcterms:W3CDTF">2026-09-13T18:32:36.0030000Z</dcterms:modified>
</coreProperties>
</file>